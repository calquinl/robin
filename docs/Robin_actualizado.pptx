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4" r:id="rId5"/>
    <p:sldId id="260" r:id="rId6"/>
    <p:sldId id="273" r:id="rId23"/>
    <p:sldId id="267" r:id="rId7"/>
    <p:sldId id="266" r:id="rId8"/>
    <p:sldId id="269" r:id="rId9"/>
    <p:sldId id="270" r:id="rId10"/>
    <p:sldId id="271" r:id="rId11"/>
    <p:sldId id="257" r:id="rId12"/>
    <p:sldId id="272" r:id="rId13"/>
  </p:sldIdLst>
  <p:sldSz cx="12192000" cy="6858000"/>
  <p:notesSz cx="6858000" cy="12192000"/>
  <p:embeddedFontLst>
    <p:embeddedFont>
      <p:font typeface="Manrope" pitchFamily="2" charset="0"/>
      <p:regular r:id="rId15"/>
    </p:embeddedFont>
    <p:embeddedFont>
      <p:font typeface="Manrope Bold" pitchFamily="2" charset="0"/>
      <p:regular r:id="rId16"/>
    </p:embeddedFont>
    <p:embeddedFont>
      <p:font typeface="Manrope SemiBold" pitchFamily="2" charset="0"/>
      <p:regular r:id="rId17"/>
    </p:embeddedFont>
    <p:embeddedFont>
      <p:font typeface="Space Grotesk Bold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  <Relationship Id="rId23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4245B-38B3-084C-AC60-AB01CA2FD592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425B21-D343-A542-9325-EABC1D1C73C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484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Robin como una wishlist solidaria: una forma de convertir una necesidad concreta en un siguiente paso compartido entre personas y donantes.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no es la falta de generosidad. Es la distancia entre una necesidad concreta y el apoyo que podría hacerla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valor como una cadena solidaria: hacer visible una necesidad, dar contexto al apoyo y convertir la generosidad en un gesto concreto.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proceso de izquierda a derecha: compartir la necesidad, conectar con el apoyo adecuado y hacer que ese gesto se convierta en avance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central: Robin convierte una lista de deseos en un puente entre quien necesita apoyo y quien quiere ayudar.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central: Robin convierte una lista de deseos en un puente entre quien necesita apoyo y quien quiere ayudar.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7D4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5" Type="http://schemas.openxmlformats.org/officeDocument/2006/relationships/theme" Target="../theme/theme1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9.jpeg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Relationship Id="rId4" Type="http://schemas.openxmlformats.org/officeDocument/2006/relationships/hyperlink" Target="https://robin-github-io.vercel.app/index.html" TargetMode="Externa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publication/poverty-prosperity-and-planet" TargetMode="External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Relationship Id="rId5" Type="http://schemas.openxmlformats.org/officeDocument/2006/relationships/hyperlink" Target="https://www.unicef.org/lac/comunicados-prensa/mas-de-400-millones-ninos-ninas-viven-en-pobreza-sin-necesdiades-diarias-nutricion-saneamiento" TargetMode="External" /><Relationship Id="rId4" Type="http://schemas.openxmlformats.org/officeDocument/2006/relationships/hyperlink" Target="https://observatorio.ministeriodesarrollosocial.gob.cl" TargetMode="External" 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n.png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16n.png" /><Relationship Id="rId4" Type="http://schemas.openxmlformats.org/officeDocument/2006/relationships/image" Target="../media/image14n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8617" t="22808" r="8152" b="18360"/>
          <a:stretch>
            <a:fillRect/>
          </a:stretch>
        </p:blipFill>
        <p:spPr>
          <a:xfrm>
            <a:off x="1883832" y="1671550"/>
            <a:ext cx="7986890" cy="2822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91069" y="4405136"/>
            <a:ext cx="8209859" cy="38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300" b="1" kern="0" spc="-34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Una wishlist solidaria que conecta necesidades con apoyo</a:t>
            </a:r>
            <a:endParaRPr lang="en-US" sz="23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3C9ABD-4F44-DD6D-4E03-95AEBF43643D}"/>
              </a:ext>
            </a:extLst>
          </p:cNvPr>
          <p:cNvSpPr txBox="1"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s-CL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61E12FE-742E-D4F8-81D7-8A144B957402}"/>
              </a:ext>
            </a:extLst>
          </p:cNvPr>
          <p:cNvSpPr/>
          <p:nvPr/>
        </p:nvSpPr>
        <p:spPr>
          <a:xfrm>
            <a:off x="176388" y="5849056"/>
            <a:ext cx="3414887" cy="740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Nombre: Lucas Calquín </a:t>
            </a:r>
          </a:p>
          <a:p>
            <a:pPr algn="r">
              <a:lnSpc>
                <a:spcPct val="83000"/>
              </a:lnSpc>
            </a:pPr>
            <a:r>
              <a:rPr lang="es-419" sz="2300" kern="0" spc="-34" dirty="0">
                <a:solidFill>
                  <a:srgbClr val="173B2A"/>
                </a:solidFill>
                <a:latin typeface="Manrope Bold" pitchFamily="34" charset="0"/>
              </a:rPr>
              <a:t>Curso: INGT1003-001 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10807" y="364893"/>
            <a:ext cx="8449396" cy="64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Introducción: Contexto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y problemática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10807" y="1554480"/>
            <a:ext cx="5900000" cy="4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Casi 700 millones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personas viven en pobreza extrema (8,5% de la población mundial)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Banco Mundial</a:t>
            </a:r>
          </a:p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17,3% de la población chilena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vive en pobreza por ingresos: 3.478.364 personas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Encuesta Casen 2024</a:t>
            </a:r>
          </a:p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Más de 400 millones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niños viven en pobreza, sin cubrir necesidades básicas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UNICEF, Estado Mundial de la Infancia 2025</a:t>
            </a:r>
          </a:p>
          <a:p>
            <a:pPr marL="285750" indent="-285750" algn="l">
              <a:lnSpc>
                <a:spcPct val="11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s-419" sz="1700" b="1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Cerca de 2.000 millones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personas no tienen acceso a medicamentos esenciales de calidad</a:t>
            </a:r>
          </a:p>
          <a:p>
            <a:pPr marL="285750" indent="0" algn="l">
              <a:lnSpc>
                <a:spcPct val="110000"/>
              </a:lnSpc>
              <a:buNone/>
            </a:pPr>
            <a:r>
              <a:rPr lang="es-419" sz="1200" i="1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OMS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DF2D2D7-7FF2-15BF-869E-4944FF8B73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887"/>
          <a:stretch>
            <a:fillRect/>
          </a:stretch>
        </p:blipFill>
        <p:spPr>
          <a:xfrm>
            <a:off x="6635478" y="0"/>
            <a:ext cx="5556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89" y="581378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</a:rPr>
              <a:t>Soluciones actuales: plataformas de donación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1635719"/>
            <a:ext cx="11582110" cy="138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Actualmente existen soluciones tecnológicas que van en ayuda de los grupos mas necesitados, pero son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Dominadas por organizaciones intermediarias, dejando fuera a personas naturales para que gestionen sus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Propias solicitudes.</a:t>
            </a:r>
          </a:p>
          <a:p>
            <a:pPr marL="0" indent="0" algn="l">
              <a:lnSpc>
                <a:spcPct val="117000"/>
              </a:lnSpc>
              <a:buNone/>
            </a:pPr>
            <a:endParaRPr lang="es-419" sz="1700" dirty="0">
              <a:solidFill>
                <a:srgbClr val="2B4937"/>
              </a:solidFill>
              <a:latin typeface="Manrope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9704" y="5737190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Las plataformas que ofrecen ayuda a través de recaudación de fondos (como </a:t>
            </a:r>
            <a:r>
              <a:rPr lang="es-419" sz="1700" dirty="0" err="1">
                <a:solidFill>
                  <a:srgbClr val="2B4937"/>
                </a:solidFill>
                <a:latin typeface="Manrope" pitchFamily="34" charset="0"/>
              </a:rPr>
              <a:t>GoFundme</a:t>
            </a: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) exponen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A las personas a fraude financiero, Permitiendo la falsificación de campañas que imitan causas legítimas</a:t>
            </a:r>
          </a:p>
        </p:txBody>
      </p:sp>
      <p:sp>
        <p:nvSpPr>
          <p:cNvPr id="14" name="Shape 10"/>
          <p:cNvSpPr/>
          <p:nvPr/>
        </p:nvSpPr>
        <p:spPr>
          <a:xfrm>
            <a:off x="609585" y="5793780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4A7EEC6-B7AF-650D-D1AC-EAAC4882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" y="2789253"/>
            <a:ext cx="1959505" cy="195950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611094D-5D9F-D9BB-B4B0-6CDA16067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555" y="2969076"/>
            <a:ext cx="4296834" cy="138061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B7C525D-1EDD-2F3A-6B8E-A231AD420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3528" y="2738694"/>
            <a:ext cx="1837972" cy="184137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CF4CA5F-489F-53CE-F318-B1E7E1945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083" y="2789252"/>
            <a:ext cx="1959505" cy="195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0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120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4520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Robin</a:t>
            </a: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: </a:t>
            </a: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Wishlist</a:t>
            </a:r>
            <a:r>
              <a:rPr lang="es-419" sz="3600" b="1" kern="0" spc="-54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 solidaria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368691" y="2391470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1F7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85" y="2620070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388420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Conexión persona y donante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597285" y="4258370"/>
            <a:ext cx="2997125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Cualquier persona natural puede publicar su historia y necesidades, pudiendo recibir ayuda de donantes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B3A37ED-E81E-3036-4572-3413305F1BFF}"/>
              </a:ext>
            </a:extLst>
          </p:cNvPr>
          <p:cNvSpPr/>
          <p:nvPr/>
        </p:nvSpPr>
        <p:spPr>
          <a:xfrm>
            <a:off x="492114" y="2391469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36F21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" y="2620070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081" y="3407469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000000"/>
                </a:solidFill>
                <a:latin typeface="Manrope Bold" pitchFamily="34" charset="0"/>
              </a:rPr>
              <a:t>Donación de bienes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00080" y="4134069"/>
            <a:ext cx="2997125" cy="1204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000000"/>
                </a:solidFill>
                <a:latin typeface="Manrope" pitchFamily="34" charset="0"/>
              </a:rPr>
              <a:t>Reemplaza el dinero, por la donación directa de bienes específicos, reduciendo el riesgo de fraude financiero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45572" y="2418924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B9D9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294" y="2620070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64294" y="4258370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</a:t>
            </a:r>
            <a:r>
              <a:rPr lang="es-419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rol de moderador valida cada publicación antes de que sea visible</a:t>
            </a:r>
            <a:endParaRPr lang="en-US" sz="17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827CDFC-00C2-69E7-B9C9-03A3A650BCBC}"/>
              </a:ext>
            </a:extLst>
          </p:cNvPr>
          <p:cNvSpPr/>
          <p:nvPr/>
        </p:nvSpPr>
        <p:spPr>
          <a:xfrm>
            <a:off x="785794" y="1612901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1377751-ABD3-273C-DEC5-590AA59DDE7F}"/>
              </a:ext>
            </a:extLst>
          </p:cNvPr>
          <p:cNvSpPr/>
          <p:nvPr/>
        </p:nvSpPr>
        <p:spPr>
          <a:xfrm>
            <a:off x="933732" y="1588427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Conectar a personas en situaciones especiales con donantes dispuestos a ayudar, mediante la donación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Directa de bienes no monetarios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472C9DE-A538-D9E8-D79B-630CFBF79517}"/>
              </a:ext>
            </a:extLst>
          </p:cNvPr>
          <p:cNvSpPr/>
          <p:nvPr/>
        </p:nvSpPr>
        <p:spPr>
          <a:xfrm>
            <a:off x="8464293" y="3371307"/>
            <a:ext cx="2997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Verificación de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publicaciones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4865" y="673301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Arquitectura de información</a:t>
            </a:r>
            <a:endParaRPr lang="en-US" sz="3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20E0B97-728C-66C9-C05C-F850DDF653EA}"/>
              </a:ext>
            </a:extLst>
          </p:cNvPr>
          <p:cNvSpPr/>
          <p:nvPr/>
        </p:nvSpPr>
        <p:spPr>
          <a:xfrm>
            <a:off x="4259737" y="2645059"/>
            <a:ext cx="1099959" cy="72448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lIns="0" tIns="0" rIns="0" bIns="0" rtlCol="0" anchor="t"/>
          <a:lstStyle/>
          <a:p>
            <a:pPr algn="r">
              <a:lnSpc>
                <a:spcPct val="83000"/>
              </a:lnSpc>
            </a:pPr>
            <a:r>
              <a:rPr lang="es-419" sz="2000" kern="0" spc="-34" dirty="0">
                <a:solidFill>
                  <a:schemeClr val="bg1"/>
                </a:solidFill>
                <a:latin typeface="Manrope Bold" pitchFamily="34" charset="0"/>
              </a:rPr>
              <a:t>Donaciones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EFA195-02E1-6855-1207-F1A6978E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67" y="1485536"/>
            <a:ext cx="11493499" cy="493502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6660444" y="5690809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Nota: el contenido donaciones cambia según el rol 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(Beneficiario, Donante, Moderador)</a:t>
            </a:r>
          </a:p>
        </p:txBody>
      </p:sp>
    </p:spTree>
    <p:extLst>
      <p:ext uri="{BB962C8B-B14F-4D97-AF65-F5344CB8AC3E}">
        <p14:creationId xmlns:p14="http://schemas.microsoft.com/office/powerpoint/2010/main" val="81276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</a:t>
            </a:r>
            <a:r>
              <a:rPr lang="es-419" sz="3600" b="1" kern="0" spc="-54" dirty="0" err="1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Feed</a:t>
            </a: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 principal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35AA901-22D9-044A-1F2F-41DBCA059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99" y="1388291"/>
            <a:ext cx="9863667" cy="476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6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Donaciones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9E13F5A-DF85-E80D-01AB-6B9467711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32" y="1264398"/>
            <a:ext cx="10397790" cy="50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5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Notificaciones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F11696-A509-1198-9ACB-44146C209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30" y="1448051"/>
            <a:ext cx="10643547" cy="50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0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5529" y="564687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Prototipo de pantallas – Perfil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9AB690C-AC16-0184-C6B1-EA26DF84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30" y="1121868"/>
            <a:ext cx="11314304" cy="5404521"/>
          </a:xfrm>
          <a:prstGeom prst="rect">
            <a:avLst/>
          </a:prstGeom>
        </p:spPr>
      </p:pic>
      <p:sp>
        <p:nvSpPr>
          <p:cNvPr id="4" name="CuadroTexto 3">
            <a:hlinkClick r:id="rId4" invalidUrl="https://robin-github-io.vercel.app/index.html"/>
            <a:extLst>
              <a:ext uri="{FF2B5EF4-FFF2-40B4-BE49-F238E27FC236}">
                <a16:creationId xmlns:a16="http://schemas.microsoft.com/office/drawing/2014/main" id="{E93EF8EF-F40E-8C98-43B5-407B3307F9D0}"/>
              </a:ext>
            </a:extLst>
          </p:cNvPr>
          <p:cNvSpPr txBox="1"/>
          <p:nvPr/>
        </p:nvSpPr>
        <p:spPr>
          <a:xfrm>
            <a:off x="8568267" y="564687"/>
            <a:ext cx="3623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419" u="sng" dirty="0">
                <a:solidFill>
                  <a:schemeClr val="tx2"/>
                </a:solidFill>
              </a:rPr>
              <a:t>Ver prototipo navegable</a:t>
            </a:r>
          </a:p>
          <a:p>
            <a:pPr algn="l"/>
            <a:endParaRPr lang="es-CL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31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6474" y="795250"/>
            <a:ext cx="4256973" cy="93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5850" b="1" kern="0" spc="-88" dirty="0">
                <a:solidFill>
                  <a:srgbClr val="173B2A"/>
                </a:solidFill>
                <a:latin typeface="Space Grotesk Bold" pitchFamily="34" charset="0"/>
              </a:rPr>
              <a:t>conclusión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64808" y="2293056"/>
            <a:ext cx="4519803" cy="432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El desarrollo de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Robin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como propuesta de innovación permite abordar un problema poco cubierto por plataformas existentes, con menor riesgo de fraude al optar por bienes en lugar de dinero</a:t>
            </a:r>
          </a:p>
          <a:p>
            <a:pPr algn="l">
              <a:lnSpc>
                <a:spcPct val="115000"/>
              </a:lnSpc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El proyecto queda en condiciones de avanzar al Hito 2, donde el foco se traslada del diseño de experiencia al diseño técnico del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backend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.</a:t>
            </a:r>
          </a:p>
          <a:p>
            <a:pPr algn="l">
              <a:lnSpc>
                <a:spcPct val="115000"/>
              </a:lnSpc>
            </a:pPr>
            <a:endParaRPr lang="es-419" sz="1650" dirty="0"/>
          </a:p>
          <a:p>
            <a:pPr algn="l">
              <a:lnSpc>
                <a:spcPct val="115000"/>
              </a:lnSpc>
            </a:pPr>
            <a:endParaRPr lang="en-US" sz="16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C5D31E4-4C02-5E7F-3AD0-8F6BB1D78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7" t="22808" r="8152" b="18360"/>
          <a:stretch>
            <a:fillRect/>
          </a:stretch>
        </p:blipFill>
        <p:spPr>
          <a:xfrm>
            <a:off x="5538306" y="1834444"/>
            <a:ext cx="6339687" cy="2240661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F0689E21-6ECE-52C4-1B7D-5034BBD1CC36}"/>
              </a:ext>
            </a:extLst>
          </p:cNvPr>
          <p:cNvSpPr/>
          <p:nvPr/>
        </p:nvSpPr>
        <p:spPr>
          <a:xfrm>
            <a:off x="6096000" y="4134890"/>
            <a:ext cx="8209859" cy="385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b="1" kern="0" spc="-34" dirty="0">
                <a:solidFill>
                  <a:srgbClr val="173B2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Una wishlist solidaria que conecta necesidades con apoyo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76474" y="795250"/>
            <a:ext cx="4256973" cy="93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5850" b="1" kern="0" spc="-88" dirty="0">
                <a:solidFill>
                  <a:srgbClr val="173B2A"/>
                </a:solidFill>
                <a:latin typeface="Space Grotesk Bold" pitchFamily="34" charset="0"/>
              </a:rPr>
              <a:t>Anexos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01308" y="1989667"/>
            <a:ext cx="11116748" cy="432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World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Bank. (2024).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Poverty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,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Prosperity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, and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Planet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Report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2024: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Pathways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Out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of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the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Polycrisis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. </a:t>
            </a:r>
            <a:r>
              <a:rPr lang="es-419" sz="1650" dirty="0" err="1">
                <a:solidFill>
                  <a:srgbClr val="2B4937"/>
                </a:solidFill>
                <a:latin typeface="Manrope" pitchFamily="34" charset="0"/>
              </a:rPr>
              <a:t>World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 Bank.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3"/>
              </a:rPr>
              <a:t>https://www.worldbank.org/en/publication/poverty-prosperity-and-planet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Ministerio de Desarrollo Social y Familia. (2025). Encuesta de Caracterización Socioeconómica Nacional (CASEN) 2024. Gobierno de Chile.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4"/>
              </a:rPr>
              <a:t>https://observatorio.ministeriodesarrollosocial.gob.cl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UNICEF. (2025). Estado Mundial de la Infancia 2025 – Poner fin a la pobreza infantil: Un imperativo universal. UNICEF. </a:t>
            </a:r>
            <a:r>
              <a:rPr lang="es-419" sz="1650" dirty="0">
                <a:solidFill>
                  <a:srgbClr val="2B4937"/>
                </a:solidFill>
                <a:latin typeface="Manrope" pitchFamily="34" charset="0"/>
                <a:hlinkClick r:id="rId5"/>
              </a:rPr>
              <a:t>https://www.unicef.org/lac/comunicados-prensa/mas-de-400-millones-ninos-ninas-viven-en-pobreza-sin-necesdiades-diarias-nutricion-saneamiento</a:t>
            </a: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419" sz="1650" dirty="0">
                <a:solidFill>
                  <a:srgbClr val="2B4937"/>
                </a:solidFill>
                <a:latin typeface="Manrope" pitchFamily="34" charset="0"/>
              </a:rPr>
              <a:t>Organización Mundial de la Salud. (2017). La OMS advierte por la falta de medicamentos básicos [Comunicado de prensa]. OMS. 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s-419" sz="1650" dirty="0">
              <a:solidFill>
                <a:srgbClr val="2B4937"/>
              </a:solidFill>
              <a:latin typeface="Manrop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961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o de ingre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kern="0" spc="120" dirty="0">
                <a:solidFill>
                  <a:srgbClr val="2F7D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4520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3600" b="1" kern="0" spc="-54" dirty="0">
                <a:solidFill>
                  <a:srgbClr val="173B2A"/>
                </a:solidFill>
                <a:latin typeface="Space Grotesk Bold" pitchFamily="34" charset="0"/>
                <a:cs typeface="Space Grotesk Bold" pitchFamily="34" charset="-120"/>
              </a:rPr>
              <a:t>Modelo de ingresos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4368691" y="2391470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1F7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85" y="2620070"/>
            <a:ext cx="539736" cy="539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388420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Plan de empresa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4597285" y="4258370"/>
            <a:ext cx="2997125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Precio único: certificado de donación, sello y logo, y panel de impacto</a:t>
            </a:r>
            <a:endParaRPr lang="en-US" sz="170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B3A37ED-E81E-3036-4572-3413305F1BFF}"/>
              </a:ext>
            </a:extLst>
          </p:cNvPr>
          <p:cNvSpPr/>
          <p:nvPr/>
        </p:nvSpPr>
        <p:spPr>
          <a:xfrm>
            <a:off x="492114" y="2391469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F36F21"/>
          </a:solidFill>
          <a:ln/>
        </p:spPr>
        <p:txBody>
          <a:bodyPr/>
          <a:lstStyle/>
          <a:p>
            <a:endParaRPr lang="es-CL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79" y="2620070"/>
            <a:ext cx="539736" cy="539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081" y="3407469"/>
            <a:ext cx="2997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000000"/>
                </a:solidFill>
                <a:latin typeface="Manrope Bold" pitchFamily="34" charset="0"/>
              </a:rPr>
              <a:t>Comisión de afiliado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800080" y="4134069"/>
            <a:ext cx="2997125" cy="1204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000000"/>
                </a:solidFill>
                <a:latin typeface="Manrope" pitchFamily="34" charset="0"/>
              </a:rPr>
              <a:t>Si el donante compra en una tienda aliada, Robin recibe un porcentaje de la venta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45572" y="2418924"/>
            <a:ext cx="3454314" cy="3304381"/>
          </a:xfrm>
          <a:prstGeom prst="roundRect">
            <a:avLst>
              <a:gd name="adj" fmla="val 5880"/>
            </a:avLst>
          </a:prstGeom>
          <a:solidFill>
            <a:srgbClr val="B9D9B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4294" y="2620070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64294" y="4258370"/>
            <a:ext cx="299712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/>
            </a:r>
            <a:r>
              <a:rPr lang="es-419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 su base imponible y gana visibilidad e impacto medible</a:t>
            </a:r>
            <a:endParaRPr lang="en-US" sz="17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827CDFC-00C2-69E7-B9C9-03A3A650BCBC}"/>
              </a:ext>
            </a:extLst>
          </p:cNvPr>
          <p:cNvSpPr/>
          <p:nvPr/>
        </p:nvSpPr>
        <p:spPr>
          <a:xfrm>
            <a:off x="785794" y="1612901"/>
            <a:ext cx="28574" cy="454620"/>
          </a:xfrm>
          <a:prstGeom prst="roundRect">
            <a:avLst>
              <a:gd name="adj" fmla="val 50000"/>
            </a:avLst>
          </a:prstGeom>
          <a:solidFill>
            <a:srgbClr val="2F7D4A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51377751-ABD3-273C-DEC5-590AA59DDE7F}"/>
              </a:ext>
            </a:extLst>
          </p:cNvPr>
          <p:cNvSpPr/>
          <p:nvPr/>
        </p:nvSpPr>
        <p:spPr>
          <a:xfrm>
            <a:off x="933732" y="1588427"/>
            <a:ext cx="11258268" cy="7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Robin se financia con una comisión y un plan de empresa,</a:t>
            </a:r>
          </a:p>
          <a:p>
            <a:pPr marL="0" indent="0" algn="l">
              <a:lnSpc>
                <a:spcPct val="117000"/>
              </a:lnSpc>
              <a:buNone/>
            </a:pPr>
            <a:r>
              <a:rPr lang="es-419" sz="1700" dirty="0">
                <a:solidFill>
                  <a:srgbClr val="2B4937"/>
                </a:solidFill>
                <a:latin typeface="Manrope" pitchFamily="34" charset="0"/>
              </a:rPr>
              <a:t>sin manejar el dinero de los beneficiarios</a:t>
            </a: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8472C9DE-A538-D9E8-D79B-630CFBF79517}"/>
              </a:ext>
            </a:extLst>
          </p:cNvPr>
          <p:cNvSpPr/>
          <p:nvPr/>
        </p:nvSpPr>
        <p:spPr>
          <a:xfrm>
            <a:off x="8464293" y="3371307"/>
            <a:ext cx="29971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Beneficio para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s-419" sz="2700" b="1" kern="0" spc="-40" dirty="0">
                <a:solidFill>
                  <a:srgbClr val="2B4937"/>
                </a:solidFill>
                <a:latin typeface="Manrope Bold" pitchFamily="34" charset="0"/>
              </a:rPr>
              <a:t>la empresa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LUCAS BENJAMÍN CALQUÍN JOFRÉ</cp:lastModifiedBy>
  <cp:revision>9</cp:revision>
  <dcterms:created xsi:type="dcterms:W3CDTF">2026-09-25T21:37:13Z</dcterms:created>
  <dcterms:modified xsi:type="dcterms:W3CDTF">2026-09-26T15:53:56Z</dcterms:modified>
</cp:coreProperties>
</file>